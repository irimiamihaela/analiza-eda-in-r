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62" r:id="rId2"/>
    <p:sldId id="270" r:id="rId3"/>
    <p:sldId id="271" r:id="rId4"/>
    <p:sldId id="263" r:id="rId5"/>
    <p:sldId id="265" r:id="rId6"/>
    <p:sldId id="257" r:id="rId7"/>
    <p:sldId id="267" r:id="rId8"/>
    <p:sldId id="258" r:id="rId9"/>
    <p:sldId id="268" r:id="rId10"/>
    <p:sldId id="269" r:id="rId11"/>
    <p:sldId id="272" r:id="rId12"/>
    <p:sldId id="27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1B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6FA3AD-1F72-4D79-BFCD-7B43DCEAB2BE}" type="datetimeFigureOut">
              <a:rPr lang="ro-RO" smtClean="0"/>
              <a:t>08.04.2024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B3109B-2E1C-4FEA-90E1-19A2DD3C1C0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3922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9CEAF6-D0E7-46B4-93EA-09D2CB071F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884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3109B-2E1C-4FEA-90E1-19A2DD3C1C0D}" type="slidenum">
              <a:rPr lang="ro-RO" smtClean="0"/>
              <a:t>11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09445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A2574-8F1A-492B-B36B-DDC3B289FA63}" type="datetimeFigureOut">
              <a:rPr lang="ro-RO" smtClean="0"/>
              <a:t>08.04.2024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1208CBED-4276-4924-92D0-D14674EFA58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29295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A2574-8F1A-492B-B36B-DDC3B289FA63}" type="datetimeFigureOut">
              <a:rPr lang="ro-RO" smtClean="0"/>
              <a:t>08.04.2024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8CBED-4276-4924-92D0-D14674EFA58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8076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A2574-8F1A-492B-B36B-DDC3B289FA63}" type="datetimeFigureOut">
              <a:rPr lang="ro-RO" smtClean="0"/>
              <a:t>08.04.2024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1208CBED-4276-4924-92D0-D14674EFA58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71030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A2574-8F1A-492B-B36B-DDC3B289FA63}" type="datetimeFigureOut">
              <a:rPr lang="ro-RO" smtClean="0"/>
              <a:t>08.04.2024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8CBED-4276-4924-92D0-D14674EFA58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52977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A2574-8F1A-492B-B36B-DDC3B289FA63}" type="datetimeFigureOut">
              <a:rPr lang="ro-RO" smtClean="0"/>
              <a:t>08.04.2024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8CBED-4276-4924-92D0-D14674EFA58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49589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A2574-8F1A-492B-B36B-DDC3B289FA63}" type="datetimeFigureOut">
              <a:rPr lang="ro-RO" smtClean="0"/>
              <a:t>08.04.2024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8CBED-4276-4924-92D0-D14674EFA58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49464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A2574-8F1A-492B-B36B-DDC3B289FA63}" type="datetimeFigureOut">
              <a:rPr lang="ro-RO" smtClean="0"/>
              <a:t>08.04.2024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8CBED-4276-4924-92D0-D14674EFA58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94437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A2574-8F1A-492B-B36B-DDC3B289FA63}" type="datetimeFigureOut">
              <a:rPr lang="ro-RO" smtClean="0"/>
              <a:t>08.04.2024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8CBED-4276-4924-92D0-D14674EFA58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39110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A2574-8F1A-492B-B36B-DDC3B289FA63}" type="datetimeFigureOut">
              <a:rPr lang="ro-RO" smtClean="0"/>
              <a:t>08.04.2024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8CBED-4276-4924-92D0-D14674EFA58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32899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A2574-8F1A-492B-B36B-DDC3B289FA63}" type="datetimeFigureOut">
              <a:rPr lang="ro-RO" smtClean="0"/>
              <a:t>08.04.2024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1208CBED-4276-4924-92D0-D14674EFA58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82123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A2574-8F1A-492B-B36B-DDC3B289FA63}" type="datetimeFigureOut">
              <a:rPr lang="ro-RO" smtClean="0"/>
              <a:t>08.04.2024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1208CBED-4276-4924-92D0-D14674EFA58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564792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A2574-8F1A-492B-B36B-DDC3B289FA63}" type="datetimeFigureOut">
              <a:rPr lang="ro-RO" smtClean="0"/>
              <a:t>08.04.2024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1208CBED-4276-4924-92D0-D14674EFA583}" type="slidenum">
              <a:rPr lang="ro-RO" smtClean="0"/>
              <a:t>‹#›</a:t>
            </a:fld>
            <a:endParaRPr lang="ro-RO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108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A2574-8F1A-492B-B36B-DDC3B289FA63}" type="datetimeFigureOut">
              <a:rPr lang="ro-RO" smtClean="0"/>
              <a:t>08.04.2024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1208CBED-4276-4924-92D0-D14674EFA58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207615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A2574-8F1A-492B-B36B-DDC3B289FA63}" type="datetimeFigureOut">
              <a:rPr lang="ro-RO" smtClean="0"/>
              <a:t>08.04.2024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8CBED-4276-4924-92D0-D14674EFA58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602082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A2574-8F1A-492B-B36B-DDC3B289FA63}" type="datetimeFigureOut">
              <a:rPr lang="ro-RO" smtClean="0"/>
              <a:t>08.04.2024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8CBED-4276-4924-92D0-D14674EFA58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56155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A2574-8F1A-492B-B36B-DDC3B289FA63}" type="datetimeFigureOut">
              <a:rPr lang="ro-RO" smtClean="0"/>
              <a:t>08.04.2024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8CBED-4276-4924-92D0-D14674EFA58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684537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87AA2574-8F1A-492B-B36B-DDC3B289FA63}" type="datetimeFigureOut">
              <a:rPr lang="ro-RO" smtClean="0"/>
              <a:t>08.04.2024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1208CBED-4276-4924-92D0-D14674EFA58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17089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AA2574-8F1A-492B-B36B-DDC3B289FA63}" type="datetimeFigureOut">
              <a:rPr lang="ro-RO" smtClean="0"/>
              <a:t>08.04.2024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08CBED-4276-4924-92D0-D14674EFA58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786930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tableconvert.com/sql-to-json" TargetMode="Externa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hyperlink" Target="https://www.google.com/url?sa=i&amp;url=https%3A%2F%2Fwww.linkedin.com%2Fpulse%2Farchitecture-talk-1-mongodb-sharding-karthikeyan-thanikachalam&amp;psig=AOvVaw3JExUjtpqTY2zzjy9RjLen&amp;ust=1712491846935000&amp;source=images&amp;cd=vfe&amp;opi=89978449&amp;ved=2ahUKEwiK_4Czx62FAxWd4bsIHd33Bf4Qjhx6BAgAEBc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548" y="2277494"/>
            <a:ext cx="9787811" cy="2138784"/>
          </a:xfrm>
        </p:spPr>
        <p:txBody>
          <a:bodyPr>
            <a:normAutofit/>
          </a:bodyPr>
          <a:lstStyle/>
          <a:p>
            <a:pPr algn="ctr"/>
            <a:r>
              <a:rPr lang="en-GB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Migrarea</a:t>
            </a: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unei </a:t>
            </a:r>
            <a:r>
              <a:rPr lang="en-GB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baze</a:t>
            </a: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date din SQL</a:t>
            </a:r>
            <a:r>
              <a:rPr lang="ro-RO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</a:t>
            </a: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MongoDB </a:t>
            </a:r>
            <a:r>
              <a:rPr lang="ro-RO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ș</a:t>
            </a:r>
            <a:r>
              <a:rPr lang="en-GB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consultarea</a:t>
            </a: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BD</a:t>
            </a:r>
            <a:endParaRPr lang="en-US" sz="3000" b="1" dirty="0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4359657" y="4162845"/>
            <a:ext cx="1889592" cy="42227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Proiect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Big Data</a:t>
            </a:r>
          </a:p>
          <a:p>
            <a:pPr>
              <a:lnSpc>
                <a:spcPct val="120000"/>
              </a:lnSpc>
            </a:pPr>
            <a:endParaRPr lang="ro-RO" b="1" dirty="0"/>
          </a:p>
        </p:txBody>
      </p:sp>
      <p:pic>
        <p:nvPicPr>
          <p:cNvPr id="1026" name="Picture 2" descr="Image result for sigla feaa">
            <a:extLst>
              <a:ext uri="{FF2B5EF4-FFF2-40B4-BE49-F238E27FC236}">
                <a16:creationId xmlns:a16="http://schemas.microsoft.com/office/drawing/2014/main" id="{36822BE6-8D6D-4DC5-B670-345257C70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3959" y="0"/>
            <a:ext cx="1644607" cy="164460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lated image">
            <a:extLst>
              <a:ext uri="{FF2B5EF4-FFF2-40B4-BE49-F238E27FC236}">
                <a16:creationId xmlns:a16="http://schemas.microsoft.com/office/drawing/2014/main" id="{C7296D64-B685-442F-A9CC-259C70ABB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525" y="0"/>
            <a:ext cx="1560070" cy="1560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600D1E2-9598-4371-AFE4-C9659E8704FC}"/>
              </a:ext>
            </a:extLst>
          </p:cNvPr>
          <p:cNvSpPr/>
          <p:nvPr/>
        </p:nvSpPr>
        <p:spPr>
          <a:xfrm>
            <a:off x="8442412" y="4654014"/>
            <a:ext cx="2407297" cy="1167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</a:t>
            </a:r>
            <a:r>
              <a:rPr lang="ro-RO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ț</a:t>
            </a:r>
            <a:r>
              <a:rPr 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i:</a:t>
            </a:r>
          </a:p>
          <a:p>
            <a:pPr algn="just">
              <a:lnSpc>
                <a:spcPct val="150000"/>
              </a:lnSpc>
            </a:pPr>
            <a:r>
              <a:rPr lang="en-GB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Ciobotaru</a:t>
            </a:r>
            <a:r>
              <a:rPr lang="en-GB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Cosmin-Andrei</a:t>
            </a:r>
            <a:endParaRPr lang="ro-RO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GB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Dănilă</a:t>
            </a:r>
            <a:r>
              <a:rPr lang="en-GB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Ana-Maria</a:t>
            </a:r>
            <a:endParaRPr lang="ro-RO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Irimia Mihaela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E12EB8-83D3-4378-A824-41400051E637}"/>
              </a:ext>
            </a:extLst>
          </p:cNvPr>
          <p:cNvSpPr/>
          <p:nvPr/>
        </p:nvSpPr>
        <p:spPr>
          <a:xfrm>
            <a:off x="2256453" y="6058865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o-RO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Mining 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</a:t>
            </a:r>
            <a:r>
              <a:rPr lang="ro-RO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ș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21F510-C6DC-895D-6124-2AA8B3C9D2F2}"/>
              </a:ext>
            </a:extLst>
          </p:cNvPr>
          <p:cNvSpPr txBox="1"/>
          <p:nvPr/>
        </p:nvSpPr>
        <p:spPr>
          <a:xfrm>
            <a:off x="3048000" y="32466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0" dirty="0">
                <a:effectLst/>
              </a:rPr>
              <a:t> </a:t>
            </a:r>
            <a:endParaRPr lang="ro-RO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40DAF8-FE01-D21C-9E27-1B354A6E34E3}"/>
              </a:ext>
            </a:extLst>
          </p:cNvPr>
          <p:cNvSpPr txBox="1"/>
          <p:nvPr/>
        </p:nvSpPr>
        <p:spPr>
          <a:xfrm>
            <a:off x="3048000" y="32466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0" dirty="0">
                <a:effectLst/>
              </a:rPr>
              <a:t> </a:t>
            </a:r>
            <a:endParaRPr lang="ro-RO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2DC1ED-7243-9BD7-432C-1F3BD6364318}"/>
              </a:ext>
            </a:extLst>
          </p:cNvPr>
          <p:cNvSpPr txBox="1"/>
          <p:nvPr/>
        </p:nvSpPr>
        <p:spPr>
          <a:xfrm>
            <a:off x="3048000" y="32466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0" dirty="0">
                <a:effectLst/>
              </a:rPr>
              <a:t> </a:t>
            </a:r>
            <a:endParaRPr lang="ro-R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7EB355-9661-AC73-CC86-55BF60384122}"/>
              </a:ext>
            </a:extLst>
          </p:cNvPr>
          <p:cNvSpPr txBox="1"/>
          <p:nvPr/>
        </p:nvSpPr>
        <p:spPr>
          <a:xfrm>
            <a:off x="664175" y="4783702"/>
            <a:ext cx="2407297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o-RO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Coordonator</a:t>
            </a:r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Prof.univ.dr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ro-RO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Marin Fotache</a:t>
            </a: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13584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8DBA-C460-C25D-2408-602514E70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3000" dirty="0"/>
              <a:t>Cuprins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DAAC68-5BAA-698D-EB4A-AEAB6771C399}"/>
              </a:ext>
            </a:extLst>
          </p:cNvPr>
          <p:cNvSpPr txBox="1"/>
          <p:nvPr/>
        </p:nvSpPr>
        <p:spPr>
          <a:xfrm>
            <a:off x="680320" y="2690336"/>
            <a:ext cx="921182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3000" b="1" dirty="0"/>
              <a:t>Baza de date inchirieri_auto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3000" b="1" dirty="0"/>
              <a:t>Migrarea bazei de date din SGBDR în MongoDB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3000" b="1" dirty="0"/>
              <a:t>Crearea clusterului și lucrul în sistem distribuit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3000" b="1" dirty="0"/>
              <a:t>Prezentarea interogărilor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670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9DA553-6964-4FF9-C0CD-90FD21D84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30" y="923804"/>
            <a:ext cx="10237694" cy="57587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2D6222C-B266-B6F4-33AC-6CF4CDFEB314}"/>
              </a:ext>
            </a:extLst>
          </p:cNvPr>
          <p:cNvSpPr/>
          <p:nvPr/>
        </p:nvSpPr>
        <p:spPr>
          <a:xfrm>
            <a:off x="170330" y="277092"/>
            <a:ext cx="10237694" cy="55872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GB" sz="3000" b="1" dirty="0" err="1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Prezentarea</a:t>
            </a:r>
            <a:r>
              <a:rPr lang="en-GB" sz="3000" b="1" dirty="0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000" b="1" dirty="0" err="1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bazei</a:t>
            </a:r>
            <a:r>
              <a:rPr lang="en-GB" sz="3000" b="1" dirty="0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date </a:t>
            </a:r>
            <a:r>
              <a:rPr lang="en-GB" sz="3000" b="1" dirty="0" err="1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relationale</a:t>
            </a:r>
            <a:r>
              <a:rPr lang="en-GB" sz="3000" b="1" dirty="0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000" b="1" dirty="0" err="1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inchirieri_auto</a:t>
            </a:r>
            <a:endParaRPr lang="ro-RO" sz="3000" b="1" dirty="0">
              <a:ln>
                <a:solidFill>
                  <a:schemeClr val="bg1">
                    <a:lumMod val="95000"/>
                    <a:lumOff val="5000"/>
                  </a:schemeClr>
                </a:solidFill>
              </a:ln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854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D4270-9332-0632-2F59-395F52E5C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 err="1"/>
              <a:t>Migrarea</a:t>
            </a:r>
            <a:r>
              <a:rPr lang="en-GB" sz="3000" dirty="0"/>
              <a:t> BDR din SGBD </a:t>
            </a:r>
            <a:r>
              <a:rPr lang="en-GB" sz="3000" dirty="0" err="1"/>
              <a:t>SQLServer</a:t>
            </a:r>
            <a:r>
              <a:rPr lang="en-GB" sz="3000" dirty="0"/>
              <a:t> in MongoDB </a:t>
            </a:r>
            <a:endParaRPr lang="ro-RO" sz="3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978CB4-C4AF-8F33-0668-15305B333335}"/>
              </a:ext>
            </a:extLst>
          </p:cNvPr>
          <p:cNvSpPr txBox="1"/>
          <p:nvPr/>
        </p:nvSpPr>
        <p:spPr>
          <a:xfrm>
            <a:off x="286326" y="2062447"/>
            <a:ext cx="11148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ro-RO" sz="1800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Exista mai multe posibilități de transformare a datelor din format SQL în format JSON sau colecții de documente:</a:t>
            </a:r>
            <a:endParaRPr lang="ro-RO" b="0" dirty="0">
              <a:solidFill>
                <a:schemeClr val="bg1"/>
              </a:solidFill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B04959-2B05-860D-7F4D-D9586534A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12" y="2419348"/>
            <a:ext cx="7180306" cy="32229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1F2CE2B-B2CE-3D34-3701-73E0D221C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275" y="3419297"/>
            <a:ext cx="5971161" cy="334981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9C5D1D7-B57C-0127-56F7-388D1CA30EF2}"/>
              </a:ext>
            </a:extLst>
          </p:cNvPr>
          <p:cNvSpPr txBox="1"/>
          <p:nvPr/>
        </p:nvSpPr>
        <p:spPr>
          <a:xfrm>
            <a:off x="4650099" y="2637018"/>
            <a:ext cx="8756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chemeClr val="bg1"/>
                </a:solidFill>
                <a:latin typeface="Times New Roman" panose="02020603050405020304" pitchFamily="18" charset="0"/>
              </a:rPr>
              <a:t>î</a:t>
            </a:r>
            <a:r>
              <a:rPr lang="ro-RO" sz="1800" b="1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n SQLServer</a:t>
            </a:r>
            <a:r>
              <a:rPr lang="ro-RO" sz="1800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: </a:t>
            </a:r>
            <a:r>
              <a:rPr lang="ro-RO" sz="1800" b="1" i="0" u="none" strike="noStrike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SELECT * FROM </a:t>
            </a:r>
            <a:r>
              <a:rPr lang="ro-RO" sz="1800" b="1" i="0" u="none" strike="noStrike" dirty="0">
                <a:solidFill>
                  <a:srgbClr val="4472C4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ANGAJATI </a:t>
            </a:r>
            <a:r>
              <a:rPr lang="ro-RO" sz="1800" b="1" i="0" u="none" strike="noStrike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FOR JSON PATH;</a:t>
            </a:r>
            <a:endParaRPr lang="ro-RO" sz="1800" b="0" i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latin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7D826C-28DB-5EE3-1F51-89E1FABCBD14}"/>
              </a:ext>
            </a:extLst>
          </p:cNvPr>
          <p:cNvSpPr txBox="1"/>
          <p:nvPr/>
        </p:nvSpPr>
        <p:spPr>
          <a:xfrm>
            <a:off x="403177" y="6123247"/>
            <a:ext cx="110960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chemeClr val="bg1"/>
                </a:solidFill>
                <a:latin typeface="Times New Roman" panose="02020603050405020304" pitchFamily="18" charset="0"/>
              </a:rPr>
              <a:t>î</a:t>
            </a:r>
            <a:r>
              <a:rPr lang="ro-RO" sz="1800" b="1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n PostgreSQL </a:t>
            </a:r>
            <a:r>
              <a:rPr lang="ro-RO" sz="1800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folosim interogarea:</a:t>
            </a:r>
            <a:r>
              <a:rPr lang="ro-RO" sz="1800" b="0" i="0" u="none" strike="noStrike" dirty="0">
                <a:solidFill>
                  <a:srgbClr val="4472C4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ro-RO" sz="1800" b="1" i="0" u="none" strike="noStrike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SELECT</a:t>
            </a:r>
            <a:r>
              <a:rPr lang="ro-RO" sz="1800" b="0" i="0" u="none" strike="noStrike" dirty="0">
                <a:solidFill>
                  <a:srgbClr val="4472C4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 </a:t>
            </a:r>
            <a:r>
              <a:rPr lang="ro-RO" sz="1800" b="1" i="0" u="none" strike="noStrike" dirty="0">
                <a:solidFill>
                  <a:srgbClr val="00008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json_agg</a:t>
            </a:r>
            <a:r>
              <a:rPr lang="ro-RO" sz="1800" b="0" i="0" u="none" strike="noStrike" dirty="0">
                <a:solidFill>
                  <a:srgbClr val="4472C4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(</a:t>
            </a:r>
            <a:r>
              <a:rPr lang="ro-RO" sz="1800" b="1" i="0" u="none" strike="noStrike" dirty="0">
                <a:solidFill>
                  <a:srgbClr val="00008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row_to_json</a:t>
            </a:r>
            <a:r>
              <a:rPr lang="ro-RO" sz="1800" b="0" i="0" u="none" strike="noStrike" dirty="0">
                <a:solidFill>
                  <a:srgbClr val="4472C4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(t)) </a:t>
            </a:r>
            <a:r>
              <a:rPr lang="ro-RO" sz="1800" b="1" i="0" u="none" strike="noStrike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FROM</a:t>
            </a:r>
            <a:r>
              <a:rPr lang="ro-RO" sz="1800" b="0" i="0" u="none" strike="noStrike" dirty="0">
                <a:solidFill>
                  <a:srgbClr val="4472C4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 (</a:t>
            </a:r>
            <a:r>
              <a:rPr lang="ro-RO" sz="1800" b="1" i="0" u="none" strike="noStrike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SELECT</a:t>
            </a:r>
            <a:r>
              <a:rPr lang="ro-RO" sz="1800" b="0" i="0" u="none" strike="noStrike" dirty="0">
                <a:solidFill>
                  <a:srgbClr val="4472C4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 * </a:t>
            </a:r>
            <a:r>
              <a:rPr lang="ro-RO" sz="1800" b="1" i="0" u="none" strike="noStrike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FROM</a:t>
            </a:r>
            <a:r>
              <a:rPr lang="ro-RO" sz="1800" b="0" i="0" u="none" strike="noStrike" dirty="0">
                <a:solidFill>
                  <a:srgbClr val="4472C4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 angajati a) t</a:t>
            </a:r>
            <a:r>
              <a:rPr lang="ro-RO" sz="1800" b="0" i="0" u="none" strike="noStrike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;</a:t>
            </a:r>
            <a:endParaRPr lang="ro-RO" sz="1800" b="0" i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732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D4270-9332-0632-2F59-395F52E5C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 err="1"/>
              <a:t>Migrarea</a:t>
            </a:r>
            <a:r>
              <a:rPr lang="en-GB" sz="3000" dirty="0"/>
              <a:t> BDR din SGBD </a:t>
            </a:r>
            <a:r>
              <a:rPr lang="en-GB" sz="3000" dirty="0" err="1"/>
              <a:t>SQLServer</a:t>
            </a:r>
            <a:r>
              <a:rPr lang="en-GB" sz="3000" dirty="0"/>
              <a:t> in MongoDB </a:t>
            </a:r>
            <a:endParaRPr lang="ro-RO" sz="3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978CB4-C4AF-8F33-0668-15305B333335}"/>
              </a:ext>
            </a:extLst>
          </p:cNvPr>
          <p:cNvSpPr txBox="1"/>
          <p:nvPr/>
        </p:nvSpPr>
        <p:spPr>
          <a:xfrm>
            <a:off x="286326" y="2062447"/>
            <a:ext cx="11148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ro-RO" sz="1800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Exista mai multe posibilitati de transformare a datelor din format SQL in format JSON sau colectii de documente:</a:t>
            </a:r>
            <a:endParaRPr lang="ro-RO" b="0" dirty="0">
              <a:solidFill>
                <a:schemeClr val="bg1"/>
              </a:solidFill>
              <a:effectLst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A33D55D-6DC6-E9A1-5184-3E20D0CB8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31779"/>
            <a:ext cx="5048250" cy="27432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EA7BF75-207D-9F23-8331-0EC1A96C4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6572" y="3708851"/>
            <a:ext cx="4533900" cy="258127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A0DF261-1EBF-2386-B475-F203184B8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4981" y="2370465"/>
            <a:ext cx="6412876" cy="239019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EC6D87A-9804-3675-2965-2A5ABBE49915}"/>
              </a:ext>
            </a:extLst>
          </p:cNvPr>
          <p:cNvSpPr/>
          <p:nvPr/>
        </p:nvSpPr>
        <p:spPr>
          <a:xfrm>
            <a:off x="6659418" y="2525375"/>
            <a:ext cx="3556255" cy="36329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>
              <a:noFill/>
            </a:endParaRP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B013EF74-9C71-18FC-53AC-75F6C8D2A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2906" y="3429000"/>
            <a:ext cx="4782839" cy="29248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A35C26-5A80-0B9C-64FE-4B73919ABF40}"/>
              </a:ext>
            </a:extLst>
          </p:cNvPr>
          <p:cNvSpPr txBox="1"/>
          <p:nvPr/>
        </p:nvSpPr>
        <p:spPr>
          <a:xfrm>
            <a:off x="6096000" y="5874472"/>
            <a:ext cx="41196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</a:rPr>
              <a:t>F</a:t>
            </a:r>
            <a:r>
              <a:rPr lang="ro-RO" sz="1800" b="1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olosind pentru conversie</a:t>
            </a:r>
            <a:r>
              <a:rPr lang="en-GB" sz="1800" b="1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3T Studio: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FFC000"/>
                </a:solidFill>
                <a:latin typeface="Times New Roman" panose="02020603050405020304" pitchFamily="18" charset="0"/>
              </a:rPr>
              <a:t>Schema </a:t>
            </a:r>
            <a:r>
              <a:rPr lang="ro-RO" b="1" dirty="0">
                <a:solidFill>
                  <a:srgbClr val="FFC000"/>
                </a:solidFill>
                <a:latin typeface="Times New Roman" panose="02020603050405020304" pitchFamily="18" charset="0"/>
              </a:rPr>
              <a:t>sau</a:t>
            </a:r>
            <a:r>
              <a:rPr lang="en-GB" b="1" dirty="0">
                <a:solidFill>
                  <a:srgbClr val="FFC000"/>
                </a:solidFill>
                <a:latin typeface="Times New Roman" panose="02020603050405020304" pitchFamily="18" charset="0"/>
              </a:rPr>
              <a:t> </a:t>
            </a:r>
            <a:r>
              <a:rPr lang="en-GB" b="1" dirty="0" err="1">
                <a:solidFill>
                  <a:srgbClr val="FFC000"/>
                </a:solidFill>
                <a:latin typeface="Times New Roman" panose="02020603050405020304" pitchFamily="18" charset="0"/>
              </a:rPr>
              <a:t>reschema</a:t>
            </a:r>
            <a:endParaRPr lang="en-GB" b="1" dirty="0">
              <a:solidFill>
                <a:srgbClr val="FFC000"/>
              </a:solidFill>
              <a:latin typeface="Times New Roman" panose="02020603050405020304" pitchFamily="18" charset="0"/>
            </a:endParaRPr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b="1" i="0" u="none" strike="noStrike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SQL Migration </a:t>
            </a:r>
            <a:r>
              <a:rPr lang="en-GB" sz="1800" b="1" i="0" u="none" strike="noStrike" dirty="0" err="1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sau</a:t>
            </a:r>
            <a:r>
              <a:rPr lang="en-GB" sz="1800" b="1" i="0" u="none" strike="noStrike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 Import</a:t>
            </a:r>
            <a:endParaRPr lang="ro-RO" sz="1800" b="0" i="0" u="none" strike="noStrike" dirty="0">
              <a:solidFill>
                <a:srgbClr val="FFC000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4497A9-096B-7D34-95DD-07DE7E755010}"/>
              </a:ext>
            </a:extLst>
          </p:cNvPr>
          <p:cNvSpPr txBox="1"/>
          <p:nvPr/>
        </p:nvSpPr>
        <p:spPr>
          <a:xfrm>
            <a:off x="166256" y="5994263"/>
            <a:ext cx="5518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</a:rPr>
              <a:t>F</a:t>
            </a:r>
            <a:r>
              <a:rPr lang="ro-RO" sz="1800" b="1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olosind platforma pentru conversie</a:t>
            </a:r>
            <a:r>
              <a:rPr lang="ro-RO" sz="1800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:</a:t>
            </a:r>
            <a:endParaRPr lang="en-GB" sz="1800" b="0" i="0" u="none" strike="noStrike" dirty="0">
              <a:solidFill>
                <a:schemeClr val="bg1"/>
              </a:solidFill>
              <a:effectLst/>
              <a:latin typeface="Times New Roman" panose="02020603050405020304" pitchFamily="18" charset="0"/>
            </a:endParaRPr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1800" b="0" i="0" u="none" strike="noStrike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ro-RO" sz="1800" b="0" i="0" u="sng" strike="noStrike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https://tableconvert.com/sql-to-json</a:t>
            </a:r>
            <a:r>
              <a:rPr lang="ro-RO" sz="1800" b="0" i="0" u="none" strike="noStrike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243130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9DA553-6964-4FF9-C0CD-90FD21D84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30" y="923804"/>
            <a:ext cx="10237694" cy="57587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2D6222C-B266-B6F4-33AC-6CF4CDFEB314}"/>
              </a:ext>
            </a:extLst>
          </p:cNvPr>
          <p:cNvSpPr/>
          <p:nvPr/>
        </p:nvSpPr>
        <p:spPr>
          <a:xfrm>
            <a:off x="170330" y="277092"/>
            <a:ext cx="10237694" cy="55872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GB" sz="3000" b="1" dirty="0" err="1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Migrarea</a:t>
            </a:r>
            <a:r>
              <a:rPr lang="en-GB" sz="3000" b="1" dirty="0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000" b="1" dirty="0" err="1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bazei</a:t>
            </a:r>
            <a:r>
              <a:rPr lang="en-GB" sz="3000" b="1" dirty="0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date </a:t>
            </a:r>
            <a:r>
              <a:rPr lang="en-GB" sz="3000" b="1" dirty="0" err="1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</a:t>
            </a:r>
            <a:r>
              <a:rPr lang="ro-RO" sz="3000" b="1" dirty="0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ț</a:t>
            </a:r>
            <a:r>
              <a:rPr lang="en-GB" sz="3000" b="1" dirty="0" err="1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ionale</a:t>
            </a:r>
            <a:r>
              <a:rPr lang="en-GB" sz="3000" b="1" dirty="0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3000" b="1" dirty="0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</a:t>
            </a:r>
            <a:r>
              <a:rPr lang="en-GB" sz="3000" b="1" dirty="0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MongoDB</a:t>
            </a:r>
            <a:endParaRPr lang="ro-RO" sz="3000" b="1" dirty="0">
              <a:ln>
                <a:solidFill>
                  <a:schemeClr val="bg1">
                    <a:lumMod val="95000"/>
                    <a:lumOff val="5000"/>
                  </a:schemeClr>
                </a:solidFill>
              </a:ln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746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7CE28C1-90F4-AB19-A69D-E7AB9B36BFBD}"/>
              </a:ext>
            </a:extLst>
          </p:cNvPr>
          <p:cNvSpPr txBox="1"/>
          <p:nvPr/>
        </p:nvSpPr>
        <p:spPr>
          <a:xfrm>
            <a:off x="7620000" y="1378031"/>
            <a:ext cx="547716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1200" b="1" dirty="0"/>
              <a:t>{    "_id" : NumberInt(102),</a:t>
            </a:r>
          </a:p>
          <a:p>
            <a:r>
              <a:rPr lang="ro-RO" sz="1200" b="1" dirty="0"/>
              <a:t>    "idContract" : NumberInt(100001),</a:t>
            </a:r>
          </a:p>
          <a:p>
            <a:r>
              <a:rPr lang="ro-RO" sz="1200" b="1" dirty="0"/>
              <a:t>    "dataFacturii" : ISODate("2017-02-12T00:00:00.000+0000"),</a:t>
            </a:r>
          </a:p>
          <a:p>
            <a:r>
              <a:rPr lang="ro-RO" sz="1200" b="1" dirty="0"/>
              <a:t>    "valoareFactura" : 1356.15,</a:t>
            </a:r>
          </a:p>
          <a:p>
            <a:r>
              <a:rPr lang="ro-RO" sz="1200" b="1" dirty="0"/>
              <a:t>    "valoareTVA" : 271.23,</a:t>
            </a:r>
          </a:p>
          <a:p>
            <a:r>
              <a:rPr lang="ro-RO" sz="1200" b="1" dirty="0"/>
              <a:t>    "modalitatePlata" : "Card",</a:t>
            </a:r>
          </a:p>
          <a:p>
            <a:r>
              <a:rPr lang="ro-RO" sz="1200" b="1" dirty="0"/>
              <a:t>    "idClient" : NumberInt(1002),</a:t>
            </a:r>
          </a:p>
          <a:p>
            <a:r>
              <a:rPr lang="ro-RO" sz="1200" b="1" dirty="0"/>
              <a:t>    "detalii_factura" : [</a:t>
            </a:r>
          </a:p>
          <a:p>
            <a:r>
              <a:rPr lang="ro-RO" sz="1200" b="1" dirty="0"/>
              <a:t>        {</a:t>
            </a:r>
          </a:p>
          <a:p>
            <a:r>
              <a:rPr lang="ro-RO" sz="1200" b="1" dirty="0"/>
              <a:t>            "_id" : ObjectId("66029a23f5e4603c9537a301"),</a:t>
            </a:r>
          </a:p>
          <a:p>
            <a:r>
              <a:rPr lang="ro-RO" sz="1200" b="1" dirty="0"/>
              <a:t>            "nrFactura" : NumberInt(102),</a:t>
            </a:r>
          </a:p>
          <a:p>
            <a:r>
              <a:rPr lang="ro-RO" sz="1200" b="1" dirty="0"/>
              <a:t>            "liniefactura" : NumberInt(1),</a:t>
            </a:r>
          </a:p>
          <a:p>
            <a:r>
              <a:rPr lang="ro-RO" sz="1200" b="1" dirty="0"/>
              <a:t>            "codprod" : NumberInt(2004),</a:t>
            </a:r>
          </a:p>
          <a:p>
            <a:r>
              <a:rPr lang="ro-RO" sz="1200" b="1" dirty="0"/>
              <a:t>            "cantitate" : NumberInt(1),</a:t>
            </a:r>
          </a:p>
          <a:p>
            <a:r>
              <a:rPr lang="ro-RO" sz="1200" b="1" dirty="0"/>
              <a:t>            "pretunit" : NumberInt(400),</a:t>
            </a:r>
          </a:p>
          <a:p>
            <a:r>
              <a:rPr lang="ro-RO" sz="1200" b="1" dirty="0"/>
              <a:t>            "tvaliniepr" : 0.24,</a:t>
            </a:r>
          </a:p>
          <a:p>
            <a:r>
              <a:rPr lang="ro-RO" sz="1200" b="1" dirty="0"/>
              <a:t>            "produse" : [</a:t>
            </a:r>
          </a:p>
          <a:p>
            <a:r>
              <a:rPr lang="ro-RO" sz="1200" b="1" dirty="0"/>
              <a:t>                {</a:t>
            </a:r>
          </a:p>
          <a:p>
            <a:r>
              <a:rPr lang="ro-RO" sz="1200" b="1" dirty="0"/>
              <a:t>                    "_id" : NumberInt(2004),</a:t>
            </a:r>
          </a:p>
          <a:p>
            <a:r>
              <a:rPr lang="ro-RO" sz="1200" b="1" dirty="0"/>
              <a:t>                    "denprod" : "Lanturi Auto",</a:t>
            </a:r>
          </a:p>
          <a:p>
            <a:r>
              <a:rPr lang="ro-RO" sz="1200" b="1" dirty="0"/>
              <a:t>                    "um" : "buc",</a:t>
            </a:r>
          </a:p>
          <a:p>
            <a:r>
              <a:rPr lang="ro-RO" sz="1200" b="1" dirty="0"/>
              <a:t>                    "procTVA" : 0.24</a:t>
            </a:r>
          </a:p>
          <a:p>
            <a:r>
              <a:rPr lang="ro-RO" sz="1200" b="1" dirty="0"/>
              <a:t>                }</a:t>
            </a:r>
          </a:p>
          <a:p>
            <a:r>
              <a:rPr lang="ro-RO" sz="1200" b="1" dirty="0"/>
              <a:t>            ]</a:t>
            </a:r>
          </a:p>
          <a:p>
            <a:r>
              <a:rPr lang="ro-RO" sz="1200" b="1" dirty="0"/>
              <a:t>        }</a:t>
            </a:r>
          </a:p>
          <a:p>
            <a:r>
              <a:rPr lang="ro-RO" sz="1200" b="1" dirty="0"/>
              <a:t>    ]</a:t>
            </a:r>
          </a:p>
          <a:p>
            <a:r>
              <a:rPr lang="ro-RO" sz="1200" b="1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B42F21-77B0-1764-1D01-A5B6A99263D1}"/>
              </a:ext>
            </a:extLst>
          </p:cNvPr>
          <p:cNvSpPr txBox="1"/>
          <p:nvPr/>
        </p:nvSpPr>
        <p:spPr>
          <a:xfrm>
            <a:off x="2576946" y="2336161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1200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// crearea colecție facturii_detalii_produse care mapează </a:t>
            </a:r>
            <a:endParaRPr lang="en-GB" sz="1200" dirty="0">
              <a:solidFill>
                <a:srgbClr val="FFC000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3 tabele relaționale din BDR inchirieri_auto</a:t>
            </a:r>
          </a:p>
          <a:p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var facturii_detalii_produse = </a:t>
            </a:r>
            <a:endParaRPr lang="ro-RO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db.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facturi_detalii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.aggregate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([</a:t>
            </a:r>
            <a:endParaRPr lang="ro-RO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{</a:t>
            </a:r>
            <a:endParaRPr lang="ro-RO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$lookup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{</a:t>
            </a:r>
            <a:endParaRPr lang="ro-RO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 "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detalii_produse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,</a:t>
            </a:r>
            <a:endParaRPr lang="ro-RO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localField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 "_id"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,</a:t>
            </a:r>
            <a:endParaRPr lang="ro-RO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foreignField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 "nrFactura"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,</a:t>
            </a:r>
            <a:endParaRPr lang="ro-RO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 "detalii_factura1" 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},</a:t>
            </a:r>
            <a:endParaRPr lang="ro-RO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$project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_id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 idContract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 1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 dataFacturii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 1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 </a:t>
            </a:r>
            <a:endParaRPr lang="en-GB" sz="1200" dirty="0">
              <a:solidFill>
                <a:srgbClr val="242424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valoareFactura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 1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 valoareTVA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 1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 modalitatePlata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 1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,</a:t>
            </a:r>
            <a:endParaRPr lang="en-GB" sz="1200" b="1" dirty="0">
              <a:solidFill>
                <a:srgbClr val="242424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 idClient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 1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 detalii_factura1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 1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}}</a:t>
            </a:r>
            <a:endParaRPr lang="ro-RO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])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.toArray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();</a:t>
            </a:r>
            <a:endParaRPr lang="ro-RO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dirty="0">
                <a:solidFill>
                  <a:srgbClr val="CC10B1"/>
                </a:solidFill>
                <a:effectLst/>
                <a:latin typeface="Consolas" panose="020B0609020204030204" pitchFamily="49" charset="0"/>
              </a:rPr>
              <a:t>// ștergerea inregistrarilor din colecția facturii_detalii_produse</a:t>
            </a:r>
            <a:endParaRPr lang="ro-RO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db.facturii_detalii_produse.remove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({});</a:t>
            </a:r>
            <a:endParaRPr lang="ro-RO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dirty="0">
                <a:solidFill>
                  <a:srgbClr val="CC10B1"/>
                </a:solidFill>
                <a:effectLst/>
                <a:latin typeface="Consolas" panose="020B0609020204030204" pitchFamily="49" charset="0"/>
              </a:rPr>
              <a:t>// popularea colectiei facturii_detalii_produse cu inregistrarile stocate in variabila facturii_detalii_produse</a:t>
            </a:r>
            <a:endParaRPr lang="ro-RO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db.facturii_detalii_produse.insertMany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facturii_detalii_produse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);</a:t>
            </a:r>
            <a:endParaRPr lang="ro-RO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dirty="0">
                <a:solidFill>
                  <a:srgbClr val="CC10B1"/>
                </a:solidFill>
                <a:effectLst/>
                <a:latin typeface="Consolas" panose="020B0609020204030204" pitchFamily="49" charset="0"/>
              </a:rPr>
              <a:t>// verificare sau interogarea colectiei facturii_detalii_produse</a:t>
            </a:r>
            <a:endParaRPr lang="ro-RO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db.facturii_detalii_produse.aggregate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([]);</a:t>
            </a:r>
            <a:endParaRPr lang="ro-RO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E3A245-B843-29F3-6CEB-0C4CD36B691C}"/>
              </a:ext>
            </a:extLst>
          </p:cNvPr>
          <p:cNvSpPr txBox="1"/>
          <p:nvPr/>
        </p:nvSpPr>
        <p:spPr>
          <a:xfrm>
            <a:off x="150092" y="646877"/>
            <a:ext cx="283556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const 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detalii_produse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 = </a:t>
            </a:r>
            <a:endParaRPr lang="ro-RO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db.detalii_factura.aggregate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([</a:t>
            </a:r>
            <a:endParaRPr lang="ro-RO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{</a:t>
            </a:r>
            <a:endParaRPr lang="ro-RO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$lookup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{</a:t>
            </a:r>
            <a:endParaRPr lang="ro-RO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 "produse_inchiriate"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,</a:t>
            </a:r>
            <a:endParaRPr lang="ro-RO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localField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 "codprod"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,</a:t>
            </a:r>
            <a:endParaRPr lang="ro-RO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foreignField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 "_id"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,</a:t>
            </a:r>
            <a:endParaRPr lang="ro-RO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 "produse"</a:t>
            </a:r>
            <a:endParaRPr lang="ro-RO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}</a:t>
            </a:r>
            <a:endParaRPr lang="ro-RO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},</a:t>
            </a:r>
            <a:endParaRPr lang="ro-RO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])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.toArray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GB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ro-RO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const 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facturi_detalii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=</a:t>
            </a:r>
          </a:p>
          <a:p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db.facturi_detalii.aggregate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([</a:t>
            </a:r>
            <a:endParaRPr lang="ro-RO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{</a:t>
            </a:r>
            <a:endParaRPr lang="ro-RO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$lookup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{</a:t>
            </a:r>
            <a:endParaRPr lang="ro-RO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 "detalii_produse"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,</a:t>
            </a:r>
            <a:endParaRPr lang="ro-RO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localField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 "_id"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,</a:t>
            </a:r>
            <a:endParaRPr lang="ro-RO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foreignField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 "nrFactura"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,</a:t>
            </a:r>
            <a:endParaRPr lang="ro-RO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 "detalii_factura" 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}</a:t>
            </a:r>
            <a:endParaRPr lang="ro-RO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])</a:t>
            </a:r>
            <a:r>
              <a:rPr lang="en-GB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ro-RO" sz="120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toArray</a:t>
            </a:r>
            <a:r>
              <a:rPr lang="ro-RO" sz="1200" b="1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();</a:t>
            </a:r>
            <a:endParaRPr lang="ro-RO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15E146-5DB8-D883-73B5-C92192AC7D94}"/>
              </a:ext>
            </a:extLst>
          </p:cNvPr>
          <p:cNvSpPr/>
          <p:nvPr/>
        </p:nvSpPr>
        <p:spPr>
          <a:xfrm>
            <a:off x="189345" y="121833"/>
            <a:ext cx="11762510" cy="39867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GB" sz="3000" b="1" dirty="0" err="1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Crearea</a:t>
            </a:r>
            <a:r>
              <a:rPr lang="en-GB" sz="3000" b="1" dirty="0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000" b="1" dirty="0" err="1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colec</a:t>
            </a:r>
            <a:r>
              <a:rPr lang="ro-RO" sz="3000" b="1" dirty="0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ț</a:t>
            </a:r>
            <a:r>
              <a:rPr lang="en-GB" sz="3000" b="1" dirty="0" err="1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iilor</a:t>
            </a:r>
            <a:r>
              <a:rPr lang="en-GB" sz="3000" b="1" dirty="0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imbricate – </a:t>
            </a:r>
            <a:r>
              <a:rPr lang="en-GB" sz="3000" b="1" dirty="0" err="1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GB" sz="3000" b="1" dirty="0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000" b="1" dirty="0" err="1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mapeaz</a:t>
            </a:r>
            <a:r>
              <a:rPr lang="ro-RO" sz="3000" b="1" dirty="0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GB" sz="3000" b="1" dirty="0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000" b="1" dirty="0" err="1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GB" sz="3000" b="1" dirty="0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000" b="1" dirty="0" err="1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multe</a:t>
            </a:r>
            <a:r>
              <a:rPr lang="en-GB" sz="3000" b="1" dirty="0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000" b="1" dirty="0" err="1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tabele</a:t>
            </a:r>
            <a:r>
              <a:rPr lang="en-GB" sz="3000" b="1" dirty="0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000" b="1" dirty="0" err="1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</a:t>
            </a:r>
            <a:r>
              <a:rPr lang="ro-RO" sz="3000" b="1" dirty="0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ț</a:t>
            </a:r>
            <a:r>
              <a:rPr lang="en-GB" sz="3000" b="1" dirty="0" err="1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ionale</a:t>
            </a:r>
            <a:endParaRPr lang="ro-RO" sz="3000" b="1" dirty="0">
              <a:ln>
                <a:solidFill>
                  <a:schemeClr val="bg1">
                    <a:lumMod val="95000"/>
                    <a:lumOff val="5000"/>
                  </a:schemeClr>
                </a:solidFill>
              </a:ln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6E13761-970D-03CC-1717-EF02FA0235E7}"/>
              </a:ext>
            </a:extLst>
          </p:cNvPr>
          <p:cNvSpPr/>
          <p:nvPr/>
        </p:nvSpPr>
        <p:spPr>
          <a:xfrm>
            <a:off x="7620000" y="646877"/>
            <a:ext cx="4572000" cy="6211123"/>
          </a:xfrm>
          <a:prstGeom prst="roundRect">
            <a:avLst/>
          </a:prstGeom>
          <a:solidFill>
            <a:schemeClr val="tx1">
              <a:alpha val="30000"/>
            </a:schemeClr>
          </a:solidFill>
          <a:ln>
            <a:solidFill>
              <a:schemeClr val="tx1">
                <a:alpha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9AB7C3-F290-F0B5-D52B-D3DF751641B6}"/>
              </a:ext>
            </a:extLst>
          </p:cNvPr>
          <p:cNvSpPr txBox="1"/>
          <p:nvPr/>
        </p:nvSpPr>
        <p:spPr>
          <a:xfrm>
            <a:off x="2835564" y="826590"/>
            <a:ext cx="31680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Crearea</a:t>
            </a:r>
            <a:r>
              <a:rPr lang="en-GB" dirty="0"/>
              <a:t> </a:t>
            </a:r>
            <a:r>
              <a:rPr lang="en-GB" dirty="0" err="1"/>
              <a:t>colec</a:t>
            </a:r>
            <a:r>
              <a:rPr lang="ro-RO" dirty="0"/>
              <a:t>ț</a:t>
            </a:r>
            <a:r>
              <a:rPr lang="en-GB" dirty="0" err="1"/>
              <a:t>iilor</a:t>
            </a:r>
            <a:r>
              <a:rPr lang="en-GB" dirty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facturi_detalii</a:t>
            </a:r>
            <a:r>
              <a:rPr lang="en-GB" dirty="0"/>
              <a:t> </a:t>
            </a:r>
            <a:r>
              <a:rPr lang="ro-RO" dirty="0"/>
              <a:t>ș</a:t>
            </a:r>
            <a:r>
              <a:rPr lang="en-GB" dirty="0" err="1"/>
              <a:t>i</a:t>
            </a:r>
            <a:r>
              <a:rPr lang="en-GB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produse_detalii</a:t>
            </a:r>
            <a:r>
              <a:rPr lang="en-GB" dirty="0"/>
              <a:t> </a:t>
            </a:r>
            <a:endParaRPr lang="ro-R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F845F5-2684-F056-07B3-697F4D3BCB02}"/>
              </a:ext>
            </a:extLst>
          </p:cNvPr>
          <p:cNvSpPr txBox="1"/>
          <p:nvPr/>
        </p:nvSpPr>
        <p:spPr>
          <a:xfrm>
            <a:off x="7892472" y="826590"/>
            <a:ext cx="3168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>
                <a:solidFill>
                  <a:schemeClr val="bg1"/>
                </a:solidFill>
              </a:rPr>
              <a:t>Rezultatul</a:t>
            </a:r>
            <a:r>
              <a:rPr lang="en-GB" b="1" dirty="0">
                <a:solidFill>
                  <a:schemeClr val="bg1"/>
                </a:solidFill>
              </a:rPr>
              <a:t> </a:t>
            </a:r>
            <a:r>
              <a:rPr lang="en-GB" b="1" dirty="0" err="1">
                <a:solidFill>
                  <a:schemeClr val="bg1"/>
                </a:solidFill>
              </a:rPr>
              <a:t>obtinut</a:t>
            </a:r>
            <a:endParaRPr lang="ro-RO" b="1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0C9CD4-ED87-EEB9-618B-1B58E71959EE}"/>
              </a:ext>
            </a:extLst>
          </p:cNvPr>
          <p:cNvSpPr/>
          <p:nvPr/>
        </p:nvSpPr>
        <p:spPr>
          <a:xfrm>
            <a:off x="9319490" y="2687782"/>
            <a:ext cx="2872509" cy="2309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err="1">
                <a:solidFill>
                  <a:srgbClr val="FF0000"/>
                </a:solidFill>
              </a:rPr>
              <a:t>Primul</a:t>
            </a:r>
            <a:r>
              <a:rPr lang="en-GB" sz="1400" b="1" dirty="0">
                <a:solidFill>
                  <a:srgbClr val="FF0000"/>
                </a:solidFill>
              </a:rPr>
              <a:t> vector de </a:t>
            </a:r>
            <a:r>
              <a:rPr lang="en-GB" sz="1400" b="1" dirty="0" err="1">
                <a:solidFill>
                  <a:srgbClr val="FF0000"/>
                </a:solidFill>
              </a:rPr>
              <a:t>documente</a:t>
            </a:r>
            <a:endParaRPr lang="ro-RO" sz="1400" b="1" dirty="0">
              <a:solidFill>
                <a:srgbClr val="FF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B47047-FCD0-2CDC-BB86-00D276AB8B77}"/>
              </a:ext>
            </a:extLst>
          </p:cNvPr>
          <p:cNvSpPr/>
          <p:nvPr/>
        </p:nvSpPr>
        <p:spPr>
          <a:xfrm>
            <a:off x="8040253" y="5980214"/>
            <a:ext cx="2872509" cy="2309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err="1">
                <a:solidFill>
                  <a:srgbClr val="FF0000"/>
                </a:solidFill>
              </a:rPr>
              <a:t>Primul</a:t>
            </a:r>
            <a:r>
              <a:rPr lang="en-GB" sz="1400" b="1" dirty="0">
                <a:solidFill>
                  <a:srgbClr val="FF0000"/>
                </a:solidFill>
              </a:rPr>
              <a:t> vector de </a:t>
            </a:r>
            <a:r>
              <a:rPr lang="en-GB" sz="1400" b="1" dirty="0" err="1">
                <a:solidFill>
                  <a:srgbClr val="FF0000"/>
                </a:solidFill>
              </a:rPr>
              <a:t>documente</a:t>
            </a:r>
            <a:endParaRPr lang="ro-RO" sz="1400" b="1" dirty="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2D78CA-101B-2692-3D6D-6BC58108012D}"/>
              </a:ext>
            </a:extLst>
          </p:cNvPr>
          <p:cNvSpPr/>
          <p:nvPr/>
        </p:nvSpPr>
        <p:spPr>
          <a:xfrm>
            <a:off x="8356600" y="5619538"/>
            <a:ext cx="2872509" cy="23090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Al 2-lea vector de </a:t>
            </a:r>
            <a:r>
              <a:rPr lang="en-GB" sz="1400" b="1" dirty="0" err="1">
                <a:solidFill>
                  <a:schemeClr val="bg1"/>
                </a:solidFill>
              </a:rPr>
              <a:t>documente</a:t>
            </a:r>
            <a:endParaRPr lang="ro-RO" sz="1400" b="1" dirty="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7935B9-5CFA-5B06-C165-14F566DDCAC6}"/>
              </a:ext>
            </a:extLst>
          </p:cNvPr>
          <p:cNvSpPr/>
          <p:nvPr/>
        </p:nvSpPr>
        <p:spPr>
          <a:xfrm>
            <a:off x="9169399" y="4321320"/>
            <a:ext cx="2872509" cy="23090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Al 2-lea vector de </a:t>
            </a:r>
            <a:r>
              <a:rPr lang="en-GB" sz="1400" b="1" dirty="0" err="1">
                <a:solidFill>
                  <a:schemeClr val="bg1"/>
                </a:solidFill>
              </a:rPr>
              <a:t>documente</a:t>
            </a:r>
            <a:endParaRPr lang="ro-RO" sz="1400" b="1" dirty="0">
              <a:solidFill>
                <a:schemeClr val="bg1"/>
              </a:solidFill>
            </a:endParaRPr>
          </a:p>
        </p:txBody>
      </p:sp>
      <p:sp>
        <p:nvSpPr>
          <p:cNvPr id="20" name="Callout: Right Arrow 19">
            <a:extLst>
              <a:ext uri="{FF2B5EF4-FFF2-40B4-BE49-F238E27FC236}">
                <a16:creationId xmlns:a16="http://schemas.microsoft.com/office/drawing/2014/main" id="{6F08E619-0947-787F-05F8-E54B022F52D0}"/>
              </a:ext>
            </a:extLst>
          </p:cNvPr>
          <p:cNvSpPr/>
          <p:nvPr/>
        </p:nvSpPr>
        <p:spPr>
          <a:xfrm>
            <a:off x="189346" y="574241"/>
            <a:ext cx="11263745" cy="6065016"/>
          </a:xfrm>
          <a:prstGeom prst="rightArrowCallout">
            <a:avLst/>
          </a:prstGeom>
          <a:solidFill>
            <a:srgbClr val="EB1BE1">
              <a:alpha val="29804"/>
            </a:srgbClr>
          </a:solidFill>
          <a:ln>
            <a:solidFill>
              <a:srgbClr val="EB1BE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69461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A9F545B6-04E8-A011-A51D-099C72EB4A1E}"/>
              </a:ext>
            </a:extLst>
          </p:cNvPr>
          <p:cNvGrpSpPr/>
          <p:nvPr/>
        </p:nvGrpSpPr>
        <p:grpSpPr>
          <a:xfrm>
            <a:off x="83127" y="1163782"/>
            <a:ext cx="11212946" cy="5477163"/>
            <a:chOff x="0" y="0"/>
            <a:chExt cx="12192000" cy="685799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C6448DA-E385-13BB-2EF0-726CFBCF3C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5668C67-BD7F-25AB-4B2B-BCE6836B013D}"/>
                </a:ext>
              </a:extLst>
            </p:cNvPr>
            <p:cNvSpPr/>
            <p:nvPr/>
          </p:nvSpPr>
          <p:spPr>
            <a:xfrm>
              <a:off x="8601636" y="98611"/>
              <a:ext cx="3415552" cy="3872753"/>
            </a:xfrm>
            <a:prstGeom prst="roundRect">
              <a:avLst/>
            </a:prstGeom>
            <a:solidFill>
              <a:schemeClr val="accent6">
                <a:lumMod val="50000"/>
                <a:alpha val="20000"/>
              </a:schemeClr>
            </a:solidFill>
            <a:ln w="57150">
              <a:solidFill>
                <a:schemeClr val="accent6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737DE10-8922-65D2-C10E-F7AF9B297C68}"/>
                </a:ext>
              </a:extLst>
            </p:cNvPr>
            <p:cNvSpPr/>
            <p:nvPr/>
          </p:nvSpPr>
          <p:spPr>
            <a:xfrm>
              <a:off x="3469341" y="3845859"/>
              <a:ext cx="5289177" cy="2936993"/>
            </a:xfrm>
            <a:prstGeom prst="roundRect">
              <a:avLst/>
            </a:prstGeom>
            <a:solidFill>
              <a:srgbClr val="7030A0">
                <a:alpha val="20000"/>
              </a:srgbClr>
            </a:solidFill>
            <a:ln w="57150">
              <a:solidFill>
                <a:srgbClr val="7030A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4CA9F37-F568-7971-7682-96413A56DD52}"/>
                </a:ext>
              </a:extLst>
            </p:cNvPr>
            <p:cNvSpPr/>
            <p:nvPr/>
          </p:nvSpPr>
          <p:spPr>
            <a:xfrm>
              <a:off x="33959" y="98611"/>
              <a:ext cx="3603813" cy="2061884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  <a:ln w="57150">
              <a:solidFill>
                <a:schemeClr val="accent2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1BE1704-7EAE-9AC2-1A1C-ADDA3B32EE9E}"/>
                </a:ext>
              </a:extLst>
            </p:cNvPr>
            <p:cNvSpPr txBox="1"/>
            <p:nvPr/>
          </p:nvSpPr>
          <p:spPr>
            <a:xfrm>
              <a:off x="284355" y="2259106"/>
              <a:ext cx="3353417" cy="423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1600" b="1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GB" sz="1600" b="1" dirty="0" err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olec</a:t>
              </a:r>
              <a:r>
                <a:rPr lang="ro-RO" sz="1600" b="1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ț</a:t>
              </a:r>
              <a:r>
                <a:rPr lang="en-GB" sz="1600" b="1" dirty="0" err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ia</a:t>
              </a:r>
              <a:r>
                <a:rPr lang="en-GB" sz="1600" b="1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1600" b="1" dirty="0" err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facturi_detalii_produse</a:t>
              </a:r>
              <a:endParaRPr lang="ro-RO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9F9C24A-7B1E-5731-8188-9E78C310B854}"/>
                </a:ext>
              </a:extLst>
            </p:cNvPr>
            <p:cNvSpPr txBox="1"/>
            <p:nvPr/>
          </p:nvSpPr>
          <p:spPr>
            <a:xfrm>
              <a:off x="8716210" y="6387742"/>
              <a:ext cx="2989729" cy="423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16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GB" sz="16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olec</a:t>
              </a:r>
              <a:r>
                <a:rPr lang="ro-RO" sz="16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ț</a:t>
              </a:r>
              <a:r>
                <a:rPr lang="en-GB" sz="16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ia</a:t>
              </a:r>
              <a:r>
                <a:rPr lang="en-GB" sz="16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16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modeleAutoturism</a:t>
              </a:r>
              <a:r>
                <a:rPr lang="en-GB" sz="16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_</a:t>
              </a:r>
              <a:endParaRPr lang="ro-RO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E900787-7B49-E513-7E6D-97124D9002E3}"/>
                </a:ext>
              </a:extLst>
            </p:cNvPr>
            <p:cNvSpPr txBox="1"/>
            <p:nvPr/>
          </p:nvSpPr>
          <p:spPr>
            <a:xfrm>
              <a:off x="6718656" y="2034987"/>
              <a:ext cx="5058451" cy="423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1600" b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GB" sz="1600" b="1" dirty="0" err="1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olec</a:t>
              </a:r>
              <a:r>
                <a:rPr lang="ro-RO" sz="1600" b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ț</a:t>
              </a:r>
              <a:r>
                <a:rPr lang="en-GB" sz="1600" b="1" dirty="0" err="1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ia</a:t>
              </a:r>
              <a:r>
                <a:rPr lang="en-GB" sz="1600" b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1600" b="1" dirty="0" err="1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birouInchirieri_angajati_dep_manager</a:t>
              </a:r>
              <a:endParaRPr lang="ro-RO" sz="1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40EB7DB-3413-F242-FB41-196048FB17AD}"/>
              </a:ext>
            </a:extLst>
          </p:cNvPr>
          <p:cNvSpPr/>
          <p:nvPr/>
        </p:nvSpPr>
        <p:spPr>
          <a:xfrm>
            <a:off x="114359" y="277071"/>
            <a:ext cx="10237694" cy="55872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GB" sz="3000" b="1" dirty="0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 </a:t>
            </a:r>
            <a:r>
              <a:rPr lang="en-GB" sz="3000" b="1" dirty="0" err="1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bazei</a:t>
            </a:r>
            <a:r>
              <a:rPr lang="en-GB" sz="3000" b="1" dirty="0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date </a:t>
            </a:r>
            <a:r>
              <a:rPr lang="ro-RO" sz="3000" b="1" dirty="0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</a:t>
            </a:r>
            <a:r>
              <a:rPr lang="en-GB" sz="3000" b="1" dirty="0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MongoDB</a:t>
            </a:r>
            <a:endParaRPr lang="ro-RO" sz="3000" b="1" dirty="0">
              <a:ln>
                <a:solidFill>
                  <a:schemeClr val="bg1">
                    <a:lumMod val="95000"/>
                    <a:lumOff val="5000"/>
                  </a:schemeClr>
                </a:solidFill>
              </a:ln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3AC777-8121-8049-03C7-BF5817F3A8FA}"/>
              </a:ext>
            </a:extLst>
          </p:cNvPr>
          <p:cNvSpPr txBox="1"/>
          <p:nvPr/>
        </p:nvSpPr>
        <p:spPr>
          <a:xfrm>
            <a:off x="4801425" y="2213014"/>
            <a:ext cx="16732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sz="1600" b="1" dirty="0" err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olec</a:t>
            </a:r>
            <a:r>
              <a:rPr lang="ro-RO" sz="16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ț</a:t>
            </a:r>
            <a:r>
              <a:rPr lang="en-GB" sz="1600" b="1" dirty="0" err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</a:t>
            </a:r>
            <a:r>
              <a:rPr lang="en-GB" sz="16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600" b="1" dirty="0" err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</a:t>
            </a:r>
            <a:r>
              <a:rPr lang="ro-RO" sz="16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ț</a:t>
            </a:r>
            <a:r>
              <a:rPr lang="en-GB" sz="1600" b="1" dirty="0" err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ro-RO" sz="1600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E4412C-B67C-0D6A-2885-FA2D47BA99D3}"/>
              </a:ext>
            </a:extLst>
          </p:cNvPr>
          <p:cNvSpPr txBox="1"/>
          <p:nvPr/>
        </p:nvSpPr>
        <p:spPr>
          <a:xfrm>
            <a:off x="1662315" y="3902363"/>
            <a:ext cx="17652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sz="1600" b="1" dirty="0" err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olec</a:t>
            </a:r>
            <a:r>
              <a:rPr lang="ro-RO" sz="16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ț</a:t>
            </a:r>
            <a:r>
              <a:rPr lang="en-GB" sz="1600" b="1" dirty="0" err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</a:t>
            </a:r>
            <a:r>
              <a:rPr lang="en-GB" sz="16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600" b="1" dirty="0" err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contracte</a:t>
            </a:r>
            <a:r>
              <a:rPr lang="en-GB" sz="16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sz="1600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50D36F-9B2A-EDA3-3565-E146FE885289}"/>
              </a:ext>
            </a:extLst>
          </p:cNvPr>
          <p:cNvSpPr txBox="1"/>
          <p:nvPr/>
        </p:nvSpPr>
        <p:spPr>
          <a:xfrm>
            <a:off x="4801425" y="3759507"/>
            <a:ext cx="19818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sz="1600" b="1" dirty="0" err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olec</a:t>
            </a:r>
            <a:r>
              <a:rPr lang="ro-RO" sz="16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ț</a:t>
            </a:r>
            <a:r>
              <a:rPr lang="en-GB" sz="1600" b="1" dirty="0" err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</a:t>
            </a:r>
            <a:r>
              <a:rPr lang="en-GB" sz="16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600" b="1" dirty="0" err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clasaAuto</a:t>
            </a:r>
            <a:endParaRPr lang="ro-RO" sz="1600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AF486A-8129-80BC-A54C-0EEED1FA0635}"/>
              </a:ext>
            </a:extLst>
          </p:cNvPr>
          <p:cNvSpPr txBox="1"/>
          <p:nvPr/>
        </p:nvSpPr>
        <p:spPr>
          <a:xfrm>
            <a:off x="8624788" y="5615462"/>
            <a:ext cx="2184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sz="1400" b="1" dirty="0" err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olec</a:t>
            </a:r>
            <a:r>
              <a:rPr lang="ro-RO" sz="14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ț</a:t>
            </a:r>
            <a:r>
              <a:rPr lang="en-GB" sz="1400" b="1" dirty="0" err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</a:t>
            </a:r>
            <a:r>
              <a:rPr lang="en-GB" sz="14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b="1" dirty="0" err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coduri_postale</a:t>
            </a:r>
            <a:endParaRPr lang="ro-RO" sz="1400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4255BD-9348-7CFE-0204-50E2CD46F9C7}"/>
              </a:ext>
            </a:extLst>
          </p:cNvPr>
          <p:cNvSpPr txBox="1"/>
          <p:nvPr/>
        </p:nvSpPr>
        <p:spPr>
          <a:xfrm>
            <a:off x="9954421" y="5850865"/>
            <a:ext cx="19818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sz="1400" b="1" dirty="0" err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olec</a:t>
            </a:r>
            <a:r>
              <a:rPr lang="ro-RO" sz="14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ț</a:t>
            </a:r>
            <a:r>
              <a:rPr lang="en-GB" sz="1400" b="1" dirty="0" err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</a:t>
            </a:r>
            <a:r>
              <a:rPr lang="en-GB" sz="14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b="1" dirty="0" err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jude</a:t>
            </a:r>
            <a:r>
              <a:rPr lang="ro-RO" sz="14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ț</a:t>
            </a:r>
            <a:r>
              <a:rPr lang="en-GB" sz="14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ro-RO" sz="1400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362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6BF0C-78A2-AE97-B77D-B1C98279C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30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Creare colecțiilor corespunzătoare BD inchirieri_auto</a:t>
            </a:r>
            <a:endParaRPr lang="ro-RO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8FD3E5-5DA0-D9F7-B0CA-C338F1EFC2BD}"/>
              </a:ext>
            </a:extLst>
          </p:cNvPr>
          <p:cNvSpPr txBox="1"/>
          <p:nvPr/>
        </p:nvSpPr>
        <p:spPr>
          <a:xfrm>
            <a:off x="0" y="2021757"/>
            <a:ext cx="12192000" cy="4544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ro-RO" sz="1600" b="1" i="0" u="none" strike="noStrike" dirty="0">
                <a:solidFill>
                  <a:srgbClr val="4472C4"/>
                </a:solidFill>
                <a:effectLst/>
                <a:latin typeface="Consolas" panose="020B0609020204030204" pitchFamily="49" charset="0"/>
              </a:rPr>
              <a:t> </a:t>
            </a:r>
            <a:endParaRPr lang="ro-RO" sz="1600" b="0" dirty="0"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ro-RO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Colecțiile create au fost restranse astfel încât din 17 </a:t>
            </a:r>
            <a:r>
              <a:rPr lang="en-GB" sz="16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colectii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ro-RO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cât avea BD inițială am ajuns să avem un număr de 8 colectii, după cum urmează:</a:t>
            </a:r>
            <a:endParaRPr lang="ro-RO" sz="1600" b="0" dirty="0"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ro-RO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colecțiile </a:t>
            </a:r>
            <a:r>
              <a:rPr lang="ro-RO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judete</a:t>
            </a:r>
            <a:r>
              <a:rPr lang="ro-RO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</a:t>
            </a:r>
            <a:r>
              <a:rPr lang="ro-RO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coduri_postale, clasaAuto, contract</a:t>
            </a:r>
            <a:r>
              <a:rPr lang="ro-RO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și </a:t>
            </a:r>
            <a:r>
              <a:rPr lang="ro-RO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clienti </a:t>
            </a:r>
            <a:r>
              <a:rPr lang="ro-RO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sunt colecții care mapează o tabelă relațională din BDR inchirieri_auto, astfel:</a:t>
            </a:r>
            <a:endParaRPr lang="ro-RO" sz="1600" b="0" dirty="0">
              <a:effectLst/>
            </a:endParaRPr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colecția </a:t>
            </a:r>
            <a:r>
              <a:rPr lang="ro-RO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judete </a:t>
            </a:r>
            <a:r>
              <a:rPr lang="ro-RO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care este echivalentă cu tabela </a:t>
            </a:r>
            <a:r>
              <a:rPr lang="ro-RO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judete </a:t>
            </a:r>
            <a:r>
              <a:rPr lang="ro-RO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din BDR 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colecția </a:t>
            </a:r>
            <a:r>
              <a:rPr lang="ro-RO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coduri_postale</a:t>
            </a:r>
            <a:r>
              <a:rPr lang="ro-RO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care este echivalentă cu tabela relațională</a:t>
            </a:r>
            <a:r>
              <a:rPr lang="ro-RO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coduri_postale</a:t>
            </a:r>
            <a:r>
              <a:rPr lang="ro-RO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din BDR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colecția </a:t>
            </a:r>
            <a:r>
              <a:rPr lang="ro-RO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clasaAuto</a:t>
            </a:r>
            <a:r>
              <a:rPr lang="ro-RO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care este echivalentă cu tabela relațională </a:t>
            </a:r>
            <a:r>
              <a:rPr lang="ro-RO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clasaAuto</a:t>
            </a:r>
            <a:r>
              <a:rPr lang="ro-RO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din BDR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colecția </a:t>
            </a:r>
            <a:r>
              <a:rPr lang="ro-RO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contract </a:t>
            </a:r>
            <a:r>
              <a:rPr lang="ro-RO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care este echivalentă cu tabela relațională </a:t>
            </a:r>
            <a:r>
              <a:rPr lang="ro-RO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contract </a:t>
            </a:r>
            <a:r>
              <a:rPr lang="ro-RO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din BDR</a:t>
            </a:r>
          </a:p>
          <a:p>
            <a:pPr algn="just" rtl="0" fontAlgn="base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colecția </a:t>
            </a:r>
            <a:r>
              <a:rPr lang="ro-RO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clienti </a:t>
            </a:r>
            <a:r>
              <a:rPr lang="ro-RO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care este echivalentă cu tabela relațională </a:t>
            </a:r>
            <a:r>
              <a:rPr lang="ro-RO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clienti </a:t>
            </a:r>
            <a:r>
              <a:rPr lang="ro-RO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din BDR</a:t>
            </a: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br>
              <a:rPr lang="ro-RO" sz="1600" b="0" dirty="0">
                <a:effectLst/>
              </a:rPr>
            </a:br>
            <a:r>
              <a:rPr lang="ro-RO" sz="16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Colecțiile birouInchirieri_angajati_dep_manager, modeleAutoturism_ și facturi_detalii_produse </a:t>
            </a:r>
            <a:r>
              <a:rPr lang="ro-RO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sunt colecții care mapeaza mai multe tabele relaționale din BDR inchirieri_auto, astfel:</a:t>
            </a:r>
            <a:endParaRPr lang="ro-RO" sz="1600" b="0" dirty="0">
              <a:effectLst/>
            </a:endParaRPr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colecția</a:t>
            </a:r>
            <a:r>
              <a:rPr lang="ro-RO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birouInchirieri_angajati_dep_manager</a:t>
            </a:r>
            <a:r>
              <a:rPr lang="ro-RO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mapeaza 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3</a:t>
            </a:r>
            <a:r>
              <a:rPr lang="ro-RO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tabele relationale din BDR, și anume: </a:t>
            </a:r>
            <a:r>
              <a:rPr lang="ro-RO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birouInchirieri, angajati, departamente</a:t>
            </a:r>
            <a:r>
              <a:rPr lang="ro-RO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și </a:t>
            </a:r>
            <a:r>
              <a:rPr lang="ro-RO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manager</a:t>
            </a:r>
            <a:r>
              <a:rPr lang="ro-RO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;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colecția </a:t>
            </a:r>
            <a:r>
              <a:rPr lang="ro-RO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modeleAutoturism_</a:t>
            </a:r>
            <a:r>
              <a:rPr lang="ro-RO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mapeaza 4 tabele relaționale din BDR și anume: </a:t>
            </a:r>
            <a:r>
              <a:rPr lang="ro-RO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statusAutoturism, marcaAutoturism, returnareAutoturism</a:t>
            </a:r>
            <a:r>
              <a:rPr lang="ro-RO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si </a:t>
            </a:r>
            <a:r>
              <a:rPr lang="ro-RO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asigurare</a:t>
            </a:r>
            <a:endParaRPr lang="ro-RO" sz="16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just" rtl="0" fontAlgn="base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colecția</a:t>
            </a:r>
            <a:r>
              <a:rPr lang="ro-RO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facturi_detalii_produse </a:t>
            </a:r>
            <a:r>
              <a:rPr lang="ro-RO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mapeaza 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</a:t>
            </a:r>
            <a:r>
              <a:rPr lang="ro-RO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tabele relaționale din BDR și anume:</a:t>
            </a:r>
            <a:r>
              <a:rPr lang="ro-RO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facturi, detalii_factura</a:t>
            </a:r>
            <a:r>
              <a:rPr lang="ro-RO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si </a:t>
            </a:r>
            <a:r>
              <a:rPr lang="ro-RO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produse_inchiriate</a:t>
            </a:r>
            <a:endParaRPr lang="ro-RO" sz="16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742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40EB7DB-3413-F242-FB41-196048FB17AD}"/>
              </a:ext>
            </a:extLst>
          </p:cNvPr>
          <p:cNvSpPr/>
          <p:nvPr/>
        </p:nvSpPr>
        <p:spPr>
          <a:xfrm>
            <a:off x="114359" y="277071"/>
            <a:ext cx="10237694" cy="55872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GB" sz="3000" b="1" dirty="0" err="1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Realizarea</a:t>
            </a:r>
            <a:r>
              <a:rPr lang="en-GB" sz="3000" b="1" dirty="0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000" b="1" dirty="0" err="1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clusterului</a:t>
            </a:r>
            <a:r>
              <a:rPr lang="en-GB" sz="3000" b="1" dirty="0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000" b="1" dirty="0" err="1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GB" sz="3000" b="1" dirty="0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000" b="1" dirty="0" err="1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urcarea</a:t>
            </a:r>
            <a:r>
              <a:rPr lang="en-GB" sz="3000" b="1" dirty="0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000" b="1" dirty="0" err="1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bazei</a:t>
            </a:r>
            <a:r>
              <a:rPr lang="en-GB" sz="3000" b="1" dirty="0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date pe cluster</a:t>
            </a:r>
            <a:endParaRPr lang="ro-RO" sz="3000" b="1" dirty="0">
              <a:ln>
                <a:solidFill>
                  <a:schemeClr val="bg1">
                    <a:lumMod val="95000"/>
                    <a:lumOff val="5000"/>
                  </a:schemeClr>
                </a:solidFill>
              </a:ln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DC4D72-977D-6B59-2819-3ECFC3EC09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233"/>
          <a:stretch/>
        </p:blipFill>
        <p:spPr>
          <a:xfrm>
            <a:off x="7644523" y="1261920"/>
            <a:ext cx="4485993" cy="55083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6039C79-DAF4-95AF-B9A9-CFECCF2B7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8" y="1261920"/>
            <a:ext cx="3593980" cy="25649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5901907-0764-4F5D-E9C5-EE523A0C4420}"/>
              </a:ext>
            </a:extLst>
          </p:cNvPr>
          <p:cNvSpPr txBox="1"/>
          <p:nvPr/>
        </p:nvSpPr>
        <p:spPr>
          <a:xfrm>
            <a:off x="98427" y="987987"/>
            <a:ext cx="68210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u="sng" strike="noStrike" dirty="0">
                <a:solidFill>
                  <a:schemeClr val="bg1"/>
                </a:solidFill>
                <a:effectLst/>
                <a:latin typeface="Google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Architecture Talk-1: MongoDB - Sharding Architecture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5367D08-6B67-484C-27F7-A12CED52BB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7876" y="3031082"/>
            <a:ext cx="6691961" cy="374845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106B4A1-E09A-161C-D7E1-5E8AE054E9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9094" y="3826918"/>
            <a:ext cx="6933683" cy="7444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12BFCFD-F6E9-1CF0-1597-CE2D7B6978C4}"/>
              </a:ext>
            </a:extLst>
          </p:cNvPr>
          <p:cNvSpPr txBox="1"/>
          <p:nvPr/>
        </p:nvSpPr>
        <p:spPr>
          <a:xfrm>
            <a:off x="4408945" y="5134415"/>
            <a:ext cx="35939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Conectarea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cluster: </a:t>
            </a:r>
          </a:p>
          <a:p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ssh ubuntu@192.168.254.149</a:t>
            </a:r>
          </a:p>
          <a:p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mongosh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--port 26061</a:t>
            </a:r>
            <a:endParaRPr lang="ro-RO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C7899D5-A787-3176-05FA-69D4CF35131A}"/>
              </a:ext>
            </a:extLst>
          </p:cNvPr>
          <p:cNvCxnSpPr>
            <a:cxnSpLocks/>
          </p:cNvCxnSpPr>
          <p:nvPr/>
        </p:nvCxnSpPr>
        <p:spPr>
          <a:xfrm>
            <a:off x="9097520" y="4163173"/>
            <a:ext cx="2004589" cy="51042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D0FB484-D6AF-C0A4-193E-3481943E81A9}"/>
              </a:ext>
            </a:extLst>
          </p:cNvPr>
          <p:cNvSpPr/>
          <p:nvPr/>
        </p:nvSpPr>
        <p:spPr>
          <a:xfrm>
            <a:off x="7894650" y="4871052"/>
            <a:ext cx="1778128" cy="182729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>
              <a:noFill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75B3D9C-3B59-AC16-56EE-02B7952B4356}"/>
              </a:ext>
            </a:extLst>
          </p:cNvPr>
          <p:cNvSpPr txBox="1"/>
          <p:nvPr/>
        </p:nvSpPr>
        <p:spPr>
          <a:xfrm>
            <a:off x="3609280" y="1664079"/>
            <a:ext cx="463879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ro-RO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Distribuirea colectiilor pe cele 3 sharduri s-a relizat cu ajutorul comenzilor:</a:t>
            </a:r>
            <a:endParaRPr lang="ro-RO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sh.enableSharding("inchirieri_auto")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sh.shardCollection("inchirieri_auto.coduri_postale", {_id:1})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sh.status()</a:t>
            </a:r>
          </a:p>
        </p:txBody>
      </p:sp>
    </p:spTree>
    <p:extLst>
      <p:ext uri="{BB962C8B-B14F-4D97-AF65-F5344CB8AC3E}">
        <p14:creationId xmlns:p14="http://schemas.microsoft.com/office/powerpoint/2010/main" val="1054317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060C1-E69B-29F8-9433-73913C8E5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Prezentarea interogări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</a:t>
            </a:r>
            <a:endParaRPr lang="ro-RO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23D259-1901-4800-8967-14BE4DFA7457}"/>
              </a:ext>
            </a:extLst>
          </p:cNvPr>
          <p:cNvSpPr txBox="1"/>
          <p:nvPr/>
        </p:nvSpPr>
        <p:spPr>
          <a:xfrm>
            <a:off x="443344" y="1891650"/>
            <a:ext cx="89408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Executarea celor 12 interogări și prezentarea lor în Studio 3T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 pe cluster </a:t>
            </a: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C2966B08-7B99-DDC8-266A-5A468B6C3042}"/>
              </a:ext>
            </a:extLst>
          </p:cNvPr>
          <p:cNvSpPr/>
          <p:nvPr/>
        </p:nvSpPr>
        <p:spPr>
          <a:xfrm flipV="1">
            <a:off x="1" y="2706252"/>
            <a:ext cx="11582400" cy="4151747"/>
          </a:xfrm>
          <a:prstGeom prst="cloudCallout">
            <a:avLst/>
          </a:prstGeom>
          <a:solidFill>
            <a:schemeClr val="accent1">
              <a:alpha val="40000"/>
            </a:schemeClr>
          </a:solidFill>
          <a:ln>
            <a:solidFill>
              <a:schemeClr val="accent1">
                <a:shade val="15000"/>
                <a:alpha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EAD77D-B962-9D29-EFCF-9193A01214E2}"/>
              </a:ext>
            </a:extLst>
          </p:cNvPr>
          <p:cNvSpPr txBox="1"/>
          <p:nvPr/>
        </p:nvSpPr>
        <p:spPr>
          <a:xfrm>
            <a:off x="1902691" y="3080877"/>
            <a:ext cx="758305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o-RO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 este valoarea medie a contractelor pe fiecare birou in parte?</a:t>
            </a:r>
          </a:p>
          <a:p>
            <a:pPr marL="342900" indent="-342900">
              <a:buFont typeface="+mj-lt"/>
              <a:buAutoNum type="arabicPeriod"/>
            </a:pPr>
            <a:r>
              <a:rPr lang="ro-RO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se calculeze valoarea facturii pe fiecare produs inchiriat de client (raportul trebuie sa contina nrFactura, produs inchiriat, valoare fara TVA, valoare cu TVA, valoare TVA si valoare totala)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o-RO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o-RO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se obtina valoarea fiecărei facturi defalcata pe valoare fără TVA, valoare cu TVA, valoare TVA și valoare totala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 este </a:t>
            </a:r>
            <a:r>
              <a:rPr lang="es-E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valoarea</a:t>
            </a: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medie a </a:t>
            </a:r>
            <a:r>
              <a:rPr lang="es-E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contractelor</a:t>
            </a: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s-E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nivelul</a:t>
            </a: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firmei</a:t>
            </a: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 sunt clasele de masini care au puterea motorului cea mai mare (din fiecare clasa)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 este </a:t>
            </a:r>
            <a:r>
              <a:rPr lang="es-E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valoarea</a:t>
            </a: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medie a </a:t>
            </a:r>
            <a:r>
              <a:rPr lang="es-E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contractelor</a:t>
            </a: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nivel de </a:t>
            </a:r>
            <a:r>
              <a:rPr lang="es-E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birou</a:t>
            </a: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it-IT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 sunt masinile care au cel mai puternic motor din fiecare clasa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 sunt vanzarile, cantitativ si valoric, pentru fiecare produs? 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 este situatia vanzarilor pe clienti si luna in anul 2016.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o-RO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 obtina situatia vanzarilor pe birou, an si produs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t-IT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este situatia vanzarilor fiecarui produs pe fiecare birou de inchiriere?</a:t>
            </a: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aloarea vanzarilor pe fiecare birou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o-RO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 obtina situatia vanzarilor pe birou, an, luna si produs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o-RO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608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C3ACB-AF03-6828-BEA2-16288E9DF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</a:t>
            </a:r>
            <a:r>
              <a:rPr lang="ro-RO" dirty="0"/>
              <a:t>ă</a:t>
            </a:r>
            <a:r>
              <a:rPr lang="en-GB" dirty="0"/>
              <a:t> </a:t>
            </a:r>
            <a:r>
              <a:rPr lang="en-GB" dirty="0" err="1"/>
              <a:t>mul</a:t>
            </a:r>
            <a:r>
              <a:rPr lang="ro-RO" dirty="0"/>
              <a:t>ț</a:t>
            </a:r>
            <a:r>
              <a:rPr lang="en-GB" dirty="0" err="1"/>
              <a:t>umim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</a:t>
            </a:r>
            <a:r>
              <a:rPr lang="en-GB" dirty="0" err="1"/>
              <a:t>aten</a:t>
            </a:r>
            <a:r>
              <a:rPr lang="ro-RO" dirty="0"/>
              <a:t>ț</a:t>
            </a:r>
            <a:r>
              <a:rPr lang="en-GB" dirty="0" err="1"/>
              <a:t>ia</a:t>
            </a:r>
            <a:r>
              <a:rPr lang="en-GB" dirty="0"/>
              <a:t> </a:t>
            </a:r>
            <a:r>
              <a:rPr lang="en-GB" dirty="0" err="1"/>
              <a:t>acordat</a:t>
            </a:r>
            <a:r>
              <a:rPr lang="ro-RO" dirty="0"/>
              <a:t>ă</a:t>
            </a:r>
            <a:r>
              <a:rPr lang="en-GB" dirty="0"/>
              <a:t>!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013747627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10019</TotalTime>
  <Words>1292</Words>
  <Application>Microsoft Office PowerPoint</Application>
  <PresentationFormat>Widescreen</PresentationFormat>
  <Paragraphs>157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Consolas</vt:lpstr>
      <vt:lpstr>Google Sans</vt:lpstr>
      <vt:lpstr>Times New Roman</vt:lpstr>
      <vt:lpstr>Trebuchet MS</vt:lpstr>
      <vt:lpstr>Wingdings</vt:lpstr>
      <vt:lpstr>Berlin</vt:lpstr>
      <vt:lpstr>Migrarea unei baze de date din SQLServer în MongoDB și consultarea BD</vt:lpstr>
      <vt:lpstr>Cuprins</vt:lpstr>
      <vt:lpstr>PowerPoint Presentation</vt:lpstr>
      <vt:lpstr>Migrarea BDR din SGBD SQLServer in MongoDB </vt:lpstr>
      <vt:lpstr>Migrarea BDR din SGBD SQLServer in MongoDB </vt:lpstr>
      <vt:lpstr>PowerPoint Presentation</vt:lpstr>
      <vt:lpstr>PowerPoint Presentation</vt:lpstr>
      <vt:lpstr>PowerPoint Presentation</vt:lpstr>
      <vt:lpstr>Creare colecțiilor corespunzătoare BD inchirieri_auto</vt:lpstr>
      <vt:lpstr>PowerPoint Presentation</vt:lpstr>
      <vt:lpstr>Prezentarea interogărilor</vt:lpstr>
      <vt:lpstr>Vă mulțumim pentru atenția acordată!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MIHAELA IRIMIA</dc:creator>
  <cp:lastModifiedBy>MIHAELA IRIMIA</cp:lastModifiedBy>
  <cp:revision>45</cp:revision>
  <dcterms:created xsi:type="dcterms:W3CDTF">2024-03-29T22:02:19Z</dcterms:created>
  <dcterms:modified xsi:type="dcterms:W3CDTF">2024-04-08T20:09:19Z</dcterms:modified>
</cp:coreProperties>
</file>